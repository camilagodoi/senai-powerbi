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62" r:id="rId5"/>
    <p:sldId id="261" r:id="rId6"/>
    <p:sldId id="264" r:id="rId7"/>
    <p:sldId id="260" r:id="rId8"/>
    <p:sldId id="258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6690"/>
    <a:srgbClr val="EC4A71"/>
    <a:srgbClr val="3FAFC5"/>
    <a:srgbClr val="F45568"/>
    <a:srgbClr val="FCAE5E"/>
    <a:srgbClr val="439CD6"/>
    <a:srgbClr val="276DA8"/>
    <a:srgbClr val="F85C63"/>
    <a:srgbClr val="FDD074"/>
    <a:srgbClr val="FF7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97A5E-08EC-468F-BCA3-DBD7FD90A681}" v="74" dt="2024-04-30T00:28:09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6" autoAdjust="0"/>
    <p:restoredTop sz="94794" autoAdjust="0"/>
  </p:normalViewPr>
  <p:slideViewPr>
    <p:cSldViewPr snapToGrid="0">
      <p:cViewPr>
        <p:scale>
          <a:sx n="75" d="100"/>
          <a:sy n="75" d="100"/>
        </p:scale>
        <p:origin x="201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7AC83-1D24-4EFB-87F2-A60C42FF96A2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3843-B022-4FB0-A66C-64F5A330C4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81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9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30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B3843-B022-4FB0-A66C-64F5A330C4A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20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A7567-0C5C-75FD-9AE6-647E869AA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90443-D9F2-1FC1-D808-6A57EC2D1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CC2ED9-3BB8-1B5B-C7C1-C44244B1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29BEB-E392-3358-CE2F-8841A174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3EF2ED-3152-C772-977F-E07C45D9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76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B4311-FF03-DDF9-E644-42D1512A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BE674-274E-BFD1-F4B7-F6D370F57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FEB25C-B7C4-80D6-683D-6A775692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B85570-257E-5937-BAB2-8B015FD9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A726F-0929-E155-1CD4-C0ED05C5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18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28FF6-5D25-0698-6C6B-367F5656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C50FB-E6B8-2841-9AB3-B106378A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ADD680-10D8-167E-2298-30216CBB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385B49-5677-8C9F-1168-EA833682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F5A8DD-CAFB-C908-ABA8-14788F73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87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32BCC-B4A4-6BCB-95FA-23F312A7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8CEDA-C33E-5384-62A7-EB771A2F3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E754F9-7234-7763-1487-AB69987C3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A9DC0-530C-807E-8516-5797C318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22D6B2-B1ED-BD46-D0CD-66544832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2AD14A-4820-8464-5B5E-D0510689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8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EDC2E-4BC7-DAD7-EEE5-3583963C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8B4E58-F62F-3F53-7ED1-35C8425F0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8E0A30-23A9-8B43-225D-D270F19AB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ED589B-1335-DB27-4F39-1B09274F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B641DF-7AA7-B86B-B57D-5EA386263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0ADFF9-32DB-A13B-03FD-B08A0028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2C745B-A94E-B41E-9988-1DF06C6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5306F1-445F-56C0-E70F-FC9CC814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21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32724-DFDD-53CA-B16D-9F554E38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9BE53E-D7FA-FB47-EEF7-1520C003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D9319F-2DAE-5680-6949-CD592249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A1C7D8-0DC2-AB84-4D4C-B2116B93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57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FF228D-A053-204E-CE7D-4DEAD819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92BDB7-63AD-14BC-209B-5816A72C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D3D943-D95D-CF40-C8E5-946CEE141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8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D197B-0960-F8CD-DC8B-BCD7A5695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6C7A6-71A8-5232-9307-D23E2ACB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954647-D9E7-6258-DC88-B5CF8F2C6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3B2705-9587-477D-9FB9-34EDA6E1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3CFDD-B0FE-4C42-20EB-0DE09F21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5CC257-62C3-9BE1-6A72-C72D205A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13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4A854-40A3-A033-B933-68F2DF87C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75ED92-4FBE-BCA7-E164-D55D89A67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03B22C-062B-E271-99A0-4AC7EB1DC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B563E1-C931-87BE-03BD-53DEA0B4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26735-6529-F644-D173-62987AA8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CC0C32-4BDC-7BE1-3E91-621CE939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76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211CD-169D-4DF9-BF39-572C3600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92CCCB-8A72-046A-45A5-250844484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DFFD21-E6E2-1434-3F80-79F5728B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B2297-2052-BCB6-5E54-BB04E0D6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EE2DF-4EC8-4AE3-ED10-A1DC67F2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0C033C-984A-49CF-B732-D76D2A229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140BC4-1B1A-7869-B76B-C528BE04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B0AFB-248C-B7D2-53BC-710B9543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793C72-E402-B91C-4199-E6136CD8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700B41-FDAF-8EFD-00B8-8BD832B3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0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68DCF5-BD2A-57B7-27C8-2D40AA59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0A4192-E927-6315-C60E-35D1D0D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B4EC8-C01C-ACC3-CE44-37C3CC433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24ED0-FB83-4F2F-9813-A1AD688BB453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2EA845-9A91-1F8F-F083-556CA729D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76841F-AA8A-370B-9347-24D840681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56701-BDB6-427D-8849-E65931441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8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microsoft.com/office/2007/relationships/hdphoto" Target="../media/hdphoto2.wdp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3D7A524-F9BF-7C2F-145A-A3DA1435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"/>
            <a:ext cx="12192000" cy="6833616"/>
          </a:xfrm>
          <a:prstGeom prst="roundRect">
            <a:avLst>
              <a:gd name="adj" fmla="val 3152"/>
            </a:avLst>
          </a:prstGeom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BAC40428-3E33-C7E1-9EE6-35FF6BAD2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0" y="1566916"/>
            <a:ext cx="5808837" cy="1552427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F4B4ADA-2EE0-571A-92A1-602185BA8D41}"/>
              </a:ext>
            </a:extLst>
          </p:cNvPr>
          <p:cNvSpPr/>
          <p:nvPr/>
        </p:nvSpPr>
        <p:spPr>
          <a:xfrm>
            <a:off x="568260" y="2853620"/>
            <a:ext cx="1662876" cy="400110"/>
          </a:xfrm>
          <a:prstGeom prst="roundRect">
            <a:avLst>
              <a:gd name="adj" fmla="val 20634"/>
            </a:avLst>
          </a:prstGeom>
          <a:solidFill>
            <a:srgbClr val="086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A79FAB-569F-56FC-231D-86EB809B2771}"/>
              </a:ext>
            </a:extLst>
          </p:cNvPr>
          <p:cNvSpPr txBox="1"/>
          <p:nvPr/>
        </p:nvSpPr>
        <p:spPr>
          <a:xfrm>
            <a:off x="568260" y="2884398"/>
            <a:ext cx="1662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Albert Sans" pitchFamily="2" charset="0"/>
              </a:rPr>
              <a:t>Iniciar Análise</a:t>
            </a:r>
          </a:p>
        </p:txBody>
      </p:sp>
    </p:spTree>
    <p:extLst>
      <p:ext uri="{BB962C8B-B14F-4D97-AF65-F5344CB8AC3E}">
        <p14:creationId xmlns:p14="http://schemas.microsoft.com/office/powerpoint/2010/main" val="260898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BA5728-9DB0-E0BD-9733-A9E1DBC1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3152"/>
            </a:avLst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92798" y="52713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92797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9017390" y="1396253"/>
            <a:ext cx="2998165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4217879" y="1396253"/>
            <a:ext cx="4713362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784596" y="1359675"/>
            <a:ext cx="3328846" cy="5354172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4217881" y="3873763"/>
            <a:ext cx="4713360" cy="2840083"/>
          </a:xfrm>
          <a:prstGeom prst="roundRect">
            <a:avLst>
              <a:gd name="adj" fmla="val 6206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9017387" y="3857748"/>
            <a:ext cx="2988643" cy="2856098"/>
          </a:xfrm>
          <a:prstGeom prst="roundRect">
            <a:avLst>
              <a:gd name="adj" fmla="val 683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820201" y="898191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867928" y="1463337"/>
            <a:ext cx="1788074" cy="288622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1083922" y="1477025"/>
            <a:ext cx="1585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4303224" y="1478102"/>
            <a:ext cx="174373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4553528" y="1477025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4275591" y="3940968"/>
            <a:ext cx="2110452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4478266" y="3939891"/>
            <a:ext cx="1921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9110389" y="1494740"/>
            <a:ext cx="233389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9313065" y="1493663"/>
            <a:ext cx="2188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9081343" y="3940968"/>
            <a:ext cx="201004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284020" y="3939891"/>
            <a:ext cx="2010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96" y="4012148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63" y="1544785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568" y="1563680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150199" y="4006383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48" y="1566487"/>
            <a:ext cx="137532" cy="135416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8044982" y="325353"/>
            <a:ext cx="1835593" cy="829826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1972" y="374357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Receita Total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3564F0-C8FE-EF73-D741-707BAE733965}"/>
              </a:ext>
            </a:extLst>
          </p:cNvPr>
          <p:cNvSpPr/>
          <p:nvPr/>
        </p:nvSpPr>
        <p:spPr>
          <a:xfrm rot="5400000">
            <a:off x="8212374" y="517892"/>
            <a:ext cx="419131" cy="432010"/>
          </a:xfrm>
          <a:prstGeom prst="roundRect">
            <a:avLst/>
          </a:prstGeom>
          <a:gradFill>
            <a:gsLst>
              <a:gs pos="0">
                <a:srgbClr val="F85C63"/>
              </a:gs>
              <a:gs pos="100000">
                <a:srgbClr val="FCAE5E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35" name="Imagem 3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5204038-95AD-574C-3FC4-724376A5C9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872" y="618579"/>
            <a:ext cx="230514" cy="230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AAD09E3-EB1E-6366-7E66-A57BC5D8AA39}"/>
              </a:ext>
            </a:extLst>
          </p:cNvPr>
          <p:cNvSpPr/>
          <p:nvPr/>
        </p:nvSpPr>
        <p:spPr>
          <a:xfrm>
            <a:off x="9978246" y="322345"/>
            <a:ext cx="1835593" cy="829826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215236" y="371349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Passageiros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7AEE69-D127-9B6B-CF81-6741210B5280}"/>
              </a:ext>
            </a:extLst>
          </p:cNvPr>
          <p:cNvSpPr/>
          <p:nvPr/>
        </p:nvSpPr>
        <p:spPr>
          <a:xfrm rot="5400000">
            <a:off x="10130456" y="517380"/>
            <a:ext cx="433459" cy="432010"/>
          </a:xfrm>
          <a:prstGeom prst="roundRect">
            <a:avLst/>
          </a:prstGeom>
          <a:gradFill>
            <a:gsLst>
              <a:gs pos="0">
                <a:srgbClr val="F85C63"/>
              </a:gs>
              <a:gs pos="100000">
                <a:srgbClr val="FCAE5E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7" name="Imagem 3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8E83180-A73A-C15A-C17E-8E794A5E8F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138" y="582282"/>
            <a:ext cx="272519" cy="2725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4" name="Imagem 43" descr="Logotipo&#10;&#10;Descrição gerada automaticamente">
            <a:extLst>
              <a:ext uri="{FF2B5EF4-FFF2-40B4-BE49-F238E27FC236}">
                <a16:creationId xmlns:a16="http://schemas.microsoft.com/office/drawing/2014/main" id="{C39BCFDE-3CD7-C4C3-7F55-C5BD1BB860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19" y="149742"/>
            <a:ext cx="1966712" cy="52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2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BA5728-9DB0-E0BD-9733-A9E1DBC1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3152"/>
            </a:avLst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92798" y="52713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92797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933136" y="1597948"/>
            <a:ext cx="714970" cy="659884"/>
          </a:xfrm>
          <a:prstGeom prst="roundRect">
            <a:avLst/>
          </a:prstGeom>
          <a:solidFill>
            <a:srgbClr val="43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1972" y="374357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Receita Total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215236" y="371349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Passageiros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CEC61C-D130-DFEF-8537-4667636CA868}"/>
              </a:ext>
            </a:extLst>
          </p:cNvPr>
          <p:cNvSpPr txBox="1"/>
          <p:nvPr/>
        </p:nvSpPr>
        <p:spPr>
          <a:xfrm>
            <a:off x="1812697" y="1289458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FCAE5E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688C7C5-A434-6B75-CED5-D0781AF347A0}"/>
              </a:ext>
            </a:extLst>
          </p:cNvPr>
          <p:cNvSpPr txBox="1"/>
          <p:nvPr/>
        </p:nvSpPr>
        <p:spPr>
          <a:xfrm>
            <a:off x="820201" y="1289458"/>
            <a:ext cx="992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439CD6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94286A-02A2-E86B-F9D5-4A1CEF7C83DF}"/>
              </a:ext>
            </a:extLst>
          </p:cNvPr>
          <p:cNvSpPr/>
          <p:nvPr/>
        </p:nvSpPr>
        <p:spPr>
          <a:xfrm>
            <a:off x="2879497" y="1597948"/>
            <a:ext cx="714970" cy="659884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4C396D6-6BF8-FF03-FCBC-8EA6DF004E4D}"/>
              </a:ext>
            </a:extLst>
          </p:cNvPr>
          <p:cNvSpPr/>
          <p:nvPr/>
        </p:nvSpPr>
        <p:spPr>
          <a:xfrm>
            <a:off x="1906316" y="1597948"/>
            <a:ext cx="714970" cy="659884"/>
          </a:xfrm>
          <a:prstGeom prst="roundRect">
            <a:avLst/>
          </a:prstGeom>
          <a:solidFill>
            <a:srgbClr val="FCA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F3C5C1-8EBF-3C56-95E6-CEF113D55F63}"/>
              </a:ext>
            </a:extLst>
          </p:cNvPr>
          <p:cNvSpPr txBox="1"/>
          <p:nvPr/>
        </p:nvSpPr>
        <p:spPr>
          <a:xfrm>
            <a:off x="2802163" y="1289458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3FAFC5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E4241E6-1582-A447-DA4B-0DBD2082FEA4}"/>
              </a:ext>
            </a:extLst>
          </p:cNvPr>
          <p:cNvSpPr txBox="1"/>
          <p:nvPr/>
        </p:nvSpPr>
        <p:spPr>
          <a:xfrm>
            <a:off x="820201" y="898191"/>
            <a:ext cx="5681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Paleta de Cores Utilizada para o projeto no Power BI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6FCEB376-4E7A-FCF8-9D36-3D963B057DCC}"/>
              </a:ext>
            </a:extLst>
          </p:cNvPr>
          <p:cNvSpPr/>
          <p:nvPr/>
        </p:nvSpPr>
        <p:spPr>
          <a:xfrm>
            <a:off x="3791629" y="1597948"/>
            <a:ext cx="714970" cy="659884"/>
          </a:xfrm>
          <a:prstGeom prst="roundRect">
            <a:avLst/>
          </a:prstGeom>
          <a:solidFill>
            <a:srgbClr val="086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02368A6-0BF6-A902-B11E-EC7A76E7F68F}"/>
              </a:ext>
            </a:extLst>
          </p:cNvPr>
          <p:cNvSpPr txBox="1"/>
          <p:nvPr/>
        </p:nvSpPr>
        <p:spPr>
          <a:xfrm>
            <a:off x="3671801" y="1277061"/>
            <a:ext cx="989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086690</a:t>
            </a:r>
          </a:p>
        </p:txBody>
      </p:sp>
    </p:spTree>
    <p:extLst>
      <p:ext uri="{BB962C8B-B14F-4D97-AF65-F5344CB8AC3E}">
        <p14:creationId xmlns:p14="http://schemas.microsoft.com/office/powerpoint/2010/main" val="338657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F9855AA-7349-3CF8-E76B-D6373493C518}"/>
              </a:ext>
            </a:extLst>
          </p:cNvPr>
          <p:cNvSpPr/>
          <p:nvPr/>
        </p:nvSpPr>
        <p:spPr>
          <a:xfrm>
            <a:off x="0" y="0"/>
            <a:ext cx="12192001" cy="6857999"/>
          </a:xfrm>
          <a:prstGeom prst="roundRect">
            <a:avLst>
              <a:gd name="adj" fmla="val 3333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683654" y="52713"/>
            <a:ext cx="11442056" cy="6750422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 rot="10800000">
            <a:off x="683653" y="779546"/>
            <a:ext cx="11435963" cy="6035985"/>
          </a:xfrm>
          <a:prstGeom prst="round2SameRect">
            <a:avLst>
              <a:gd name="adj1" fmla="val 3823"/>
              <a:gd name="adj2" fmla="val 0"/>
            </a:avLst>
          </a:prstGeom>
          <a:solidFill>
            <a:srgbClr val="F3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9017390" y="1396253"/>
            <a:ext cx="2998165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4217879" y="1396253"/>
            <a:ext cx="4713362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784596" y="1359675"/>
            <a:ext cx="3328846" cy="5354172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4217881" y="3873763"/>
            <a:ext cx="4713360" cy="2840083"/>
          </a:xfrm>
          <a:prstGeom prst="roundRect">
            <a:avLst>
              <a:gd name="adj" fmla="val 6206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9017387" y="3857748"/>
            <a:ext cx="2988643" cy="2856098"/>
          </a:xfrm>
          <a:prstGeom prst="roundRect">
            <a:avLst>
              <a:gd name="adj" fmla="val 683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0272C0EE-7883-6535-2EF1-D252F950C0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62" y="163140"/>
            <a:ext cx="2007893" cy="539435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820201" y="898191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Albert Sans" pitchFamily="2" charset="0"/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867928" y="1463337"/>
            <a:ext cx="1788074" cy="288622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1083922" y="1477025"/>
            <a:ext cx="1585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4303224" y="1478102"/>
            <a:ext cx="174373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4553528" y="1477025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4275591" y="3940968"/>
            <a:ext cx="2110452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4478266" y="3939891"/>
            <a:ext cx="1921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9110389" y="1494740"/>
            <a:ext cx="233389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9313065" y="1493663"/>
            <a:ext cx="2188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9081343" y="3940968"/>
            <a:ext cx="201004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284020" y="3939891"/>
            <a:ext cx="2010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Albert Sans" pitchFamily="2" charset="0"/>
              </a:rPr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96" y="4012148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63" y="1544785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568" y="1563680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150199" y="4006383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1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03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7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148587" y="2468592"/>
            <a:ext cx="431773" cy="43369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25" y="2586095"/>
            <a:ext cx="211710" cy="211097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48" y="1566487"/>
            <a:ext cx="137532" cy="135416"/>
          </a:xfrm>
          <a:prstGeom prst="rect">
            <a:avLst/>
          </a:prstGeom>
        </p:spPr>
      </p:pic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7C1958D-DC3D-FE76-4953-1489FDB39454}"/>
              </a:ext>
            </a:extLst>
          </p:cNvPr>
          <p:cNvSpPr/>
          <p:nvPr/>
        </p:nvSpPr>
        <p:spPr>
          <a:xfrm>
            <a:off x="8044982" y="325353"/>
            <a:ext cx="1835593" cy="829826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1972" y="374357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Receita Total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AD625FD-710B-9754-9028-2C3F68ACE77D}"/>
              </a:ext>
            </a:extLst>
          </p:cNvPr>
          <p:cNvGrpSpPr/>
          <p:nvPr/>
        </p:nvGrpSpPr>
        <p:grpSpPr>
          <a:xfrm>
            <a:off x="8205934" y="524331"/>
            <a:ext cx="432010" cy="419131"/>
            <a:chOff x="8032628" y="451367"/>
            <a:chExt cx="549788" cy="533398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863564F0-C8FE-EF73-D741-707BAE733965}"/>
                </a:ext>
              </a:extLst>
            </p:cNvPr>
            <p:cNvSpPr/>
            <p:nvPr/>
          </p:nvSpPr>
          <p:spPr>
            <a:xfrm rot="5400000">
              <a:off x="8040823" y="443172"/>
              <a:ext cx="533398" cy="5497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dirty="0"/>
            </a:p>
          </p:txBody>
        </p:sp>
        <p:pic>
          <p:nvPicPr>
            <p:cNvPr id="35" name="Imagem 34" descr="Desenho de um círculo&#10;&#10;Descrição gerada automaticamente com confiança baixa">
              <a:extLst>
                <a:ext uri="{FF2B5EF4-FFF2-40B4-BE49-F238E27FC236}">
                  <a16:creationId xmlns:a16="http://schemas.microsoft.com/office/drawing/2014/main" id="{95204038-95AD-574C-3FC4-724376A5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85" y="571310"/>
              <a:ext cx="293359" cy="293359"/>
            </a:xfrm>
            <a:prstGeom prst="rect">
              <a:avLst/>
            </a:prstGeom>
          </p:spPr>
        </p:pic>
      </p:grp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AAD09E3-EB1E-6366-7E66-A57BC5D8AA39}"/>
              </a:ext>
            </a:extLst>
          </p:cNvPr>
          <p:cNvSpPr/>
          <p:nvPr/>
        </p:nvSpPr>
        <p:spPr>
          <a:xfrm>
            <a:off x="9978246" y="322345"/>
            <a:ext cx="1835593" cy="829826"/>
          </a:xfrm>
          <a:prstGeom prst="roundRect">
            <a:avLst/>
          </a:prstGeom>
          <a:solidFill>
            <a:srgbClr val="3FAF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708D14-F413-82BC-E1E3-C10B8B921A0F}"/>
              </a:ext>
            </a:extLst>
          </p:cNvPr>
          <p:cNvSpPr txBox="1"/>
          <p:nvPr/>
        </p:nvSpPr>
        <p:spPr>
          <a:xfrm>
            <a:off x="10215236" y="371349"/>
            <a:ext cx="1493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>
                <a:solidFill>
                  <a:schemeClr val="bg1"/>
                </a:solidFill>
                <a:latin typeface="Albert Sans" pitchFamily="2" charset="0"/>
              </a:rPr>
              <a:t>Passageiros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2494101-21D9-0984-5B58-A3D25D0D9820}"/>
              </a:ext>
            </a:extLst>
          </p:cNvPr>
          <p:cNvGrpSpPr/>
          <p:nvPr/>
        </p:nvGrpSpPr>
        <p:grpSpPr>
          <a:xfrm>
            <a:off x="10131180" y="516655"/>
            <a:ext cx="432010" cy="433459"/>
            <a:chOff x="10167157" y="441806"/>
            <a:chExt cx="549788" cy="551632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467AEE69-D127-9B6B-CF81-6741210B5280}"/>
                </a:ext>
              </a:extLst>
            </p:cNvPr>
            <p:cNvSpPr/>
            <p:nvPr/>
          </p:nvSpPr>
          <p:spPr>
            <a:xfrm rot="5400000">
              <a:off x="10166235" y="442728"/>
              <a:ext cx="551632" cy="5497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7" name="Imagem 36" descr="Desenho de um círculo&#10;&#10;Descrição gerada automaticamente com confiança baixa">
              <a:extLst>
                <a:ext uri="{FF2B5EF4-FFF2-40B4-BE49-F238E27FC236}">
                  <a16:creationId xmlns:a16="http://schemas.microsoft.com/office/drawing/2014/main" id="{78E83180-A73A-C15A-C17E-8E794A5E8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8914" y="525325"/>
              <a:ext cx="346815" cy="346815"/>
            </a:xfrm>
            <a:prstGeom prst="rect">
              <a:avLst/>
            </a:prstGeom>
          </p:spPr>
        </p:pic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D7E24A4-C839-4E29-8BC8-F59859A79069}"/>
              </a:ext>
            </a:extLst>
          </p:cNvPr>
          <p:cNvSpPr txBox="1"/>
          <p:nvPr/>
        </p:nvSpPr>
        <p:spPr>
          <a:xfrm>
            <a:off x="5969387" y="71306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3FAFC5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F3CBF10-4D4A-10F1-77EA-E8D3FBF430F0}"/>
              </a:ext>
            </a:extLst>
          </p:cNvPr>
          <p:cNvSpPr txBox="1"/>
          <p:nvPr/>
        </p:nvSpPr>
        <p:spPr>
          <a:xfrm>
            <a:off x="4553526" y="70681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215F9A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0EF162B-25F1-82EB-3AF4-F8B437BBDBD6}"/>
              </a:ext>
            </a:extLst>
          </p:cNvPr>
          <p:cNvSpPr txBox="1"/>
          <p:nvPr/>
        </p:nvSpPr>
        <p:spPr>
          <a:xfrm>
            <a:off x="3526560" y="71020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F3F4F8</a:t>
            </a:r>
          </a:p>
        </p:txBody>
      </p:sp>
    </p:spTree>
    <p:extLst>
      <p:ext uri="{BB962C8B-B14F-4D97-AF65-F5344CB8AC3E}">
        <p14:creationId xmlns:p14="http://schemas.microsoft.com/office/powerpoint/2010/main" val="85324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28D89C-572C-7FD0-9EB9-04262278EA38}"/>
              </a:ext>
            </a:extLst>
          </p:cNvPr>
          <p:cNvSpPr/>
          <p:nvPr/>
        </p:nvSpPr>
        <p:spPr>
          <a:xfrm>
            <a:off x="-1" y="-1"/>
            <a:ext cx="12192001" cy="6858000"/>
          </a:xfrm>
          <a:prstGeom prst="roundRect">
            <a:avLst>
              <a:gd name="adj" fmla="val 3333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996194DC-A3B2-7190-67AD-BBBE83051259}"/>
              </a:ext>
            </a:extLst>
          </p:cNvPr>
          <p:cNvSpPr/>
          <p:nvPr/>
        </p:nvSpPr>
        <p:spPr>
          <a:xfrm rot="16200000">
            <a:off x="-3142286" y="3142287"/>
            <a:ext cx="6858002" cy="573426"/>
          </a:xfrm>
          <a:prstGeom prst="round2SameRect">
            <a:avLst>
              <a:gd name="adj1" fmla="val 31019"/>
              <a:gd name="adj2" fmla="val 0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47F4F-7232-65D3-7E50-30235DC64AF1}"/>
              </a:ext>
            </a:extLst>
          </p:cNvPr>
          <p:cNvSpPr/>
          <p:nvPr/>
        </p:nvSpPr>
        <p:spPr>
          <a:xfrm>
            <a:off x="9017390" y="1396251"/>
            <a:ext cx="2958009" cy="238237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2864D58-7AE7-5226-06DA-269C2DE21A98}"/>
              </a:ext>
            </a:extLst>
          </p:cNvPr>
          <p:cNvSpPr/>
          <p:nvPr/>
        </p:nvSpPr>
        <p:spPr>
          <a:xfrm>
            <a:off x="4101352" y="1396253"/>
            <a:ext cx="4791789" cy="2382371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58B355-86A0-D441-87D5-772BFF32F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19" y="7403726"/>
            <a:ext cx="9324975" cy="52197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D42EB5-768C-AB3E-C61A-E3562AAF806B}"/>
              </a:ext>
            </a:extLst>
          </p:cNvPr>
          <p:cNvSpPr/>
          <p:nvPr/>
        </p:nvSpPr>
        <p:spPr>
          <a:xfrm flipV="1">
            <a:off x="690526" y="1396251"/>
            <a:ext cx="3286577" cy="5354172"/>
          </a:xfrm>
          <a:prstGeom prst="roundRect">
            <a:avLst>
              <a:gd name="adj" fmla="val 5119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03763A-045D-488D-52D2-C577D2E32693}"/>
              </a:ext>
            </a:extLst>
          </p:cNvPr>
          <p:cNvSpPr/>
          <p:nvPr/>
        </p:nvSpPr>
        <p:spPr>
          <a:xfrm flipV="1">
            <a:off x="4101353" y="3930381"/>
            <a:ext cx="4791788" cy="2818920"/>
          </a:xfrm>
          <a:prstGeom prst="roundRect">
            <a:avLst>
              <a:gd name="adj" fmla="val 2664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1FC3962-FFEE-0C54-19F7-F986426BE590}"/>
              </a:ext>
            </a:extLst>
          </p:cNvPr>
          <p:cNvSpPr/>
          <p:nvPr/>
        </p:nvSpPr>
        <p:spPr>
          <a:xfrm flipV="1">
            <a:off x="9017388" y="3932145"/>
            <a:ext cx="2927988" cy="2793619"/>
          </a:xfrm>
          <a:prstGeom prst="roundRect">
            <a:avLst>
              <a:gd name="adj" fmla="val 2664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70263A3-9963-4D9C-A915-365809825CE8}"/>
              </a:ext>
            </a:extLst>
          </p:cNvPr>
          <p:cNvSpPr/>
          <p:nvPr/>
        </p:nvSpPr>
        <p:spPr>
          <a:xfrm>
            <a:off x="9977895" y="168292"/>
            <a:ext cx="1993199" cy="1042147"/>
          </a:xfrm>
          <a:prstGeom prst="roundRect">
            <a:avLst>
              <a:gd name="adj" fmla="val 10086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4834625-7F6D-D7BC-B8F3-B75DCD09258D}"/>
              </a:ext>
            </a:extLst>
          </p:cNvPr>
          <p:cNvSpPr/>
          <p:nvPr/>
        </p:nvSpPr>
        <p:spPr>
          <a:xfrm>
            <a:off x="7854586" y="177051"/>
            <a:ext cx="1993199" cy="1042147"/>
          </a:xfrm>
          <a:prstGeom prst="roundRect">
            <a:avLst>
              <a:gd name="adj" fmla="val 10086"/>
            </a:avLst>
          </a:prstGeom>
          <a:solidFill>
            <a:srgbClr val="24C6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0272C0EE-7883-6535-2EF1-D252F950C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59" y="239096"/>
            <a:ext cx="2360586" cy="63418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50D87D-A140-BC86-590E-6AD35F411FB5}"/>
              </a:ext>
            </a:extLst>
          </p:cNvPr>
          <p:cNvSpPr txBox="1"/>
          <p:nvPr/>
        </p:nvSpPr>
        <p:spPr>
          <a:xfrm>
            <a:off x="655699" y="742405"/>
            <a:ext cx="216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2">
                    <a:lumMod val="50000"/>
                  </a:schemeClr>
                </a:solidFill>
              </a:rPr>
              <a:t>Overview Vendas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054C361-EFE7-7EA0-D474-516F91CC3A7A}"/>
              </a:ext>
            </a:extLst>
          </p:cNvPr>
          <p:cNvSpPr/>
          <p:nvPr/>
        </p:nvSpPr>
        <p:spPr>
          <a:xfrm>
            <a:off x="790026" y="1494740"/>
            <a:ext cx="1788074" cy="288622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F05A2BE-92F9-3E24-5A37-8421D8A766F6}"/>
              </a:ext>
            </a:extLst>
          </p:cNvPr>
          <p:cNvSpPr txBox="1"/>
          <p:nvPr/>
        </p:nvSpPr>
        <p:spPr>
          <a:xfrm>
            <a:off x="992701" y="1493663"/>
            <a:ext cx="1585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Destinos Procurados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A73CA-469E-C91C-21C3-CA4A8C64CA72}"/>
              </a:ext>
            </a:extLst>
          </p:cNvPr>
          <p:cNvSpPr/>
          <p:nvPr/>
        </p:nvSpPr>
        <p:spPr>
          <a:xfrm>
            <a:off x="4261773" y="1506363"/>
            <a:ext cx="174373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BAFD67-FEB9-F289-FCF9-46CDC4482A90}"/>
              </a:ext>
            </a:extLst>
          </p:cNvPr>
          <p:cNvSpPr txBox="1"/>
          <p:nvPr/>
        </p:nvSpPr>
        <p:spPr>
          <a:xfrm>
            <a:off x="4512077" y="1505286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Receita por Período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A853DF9-3399-8E21-82C0-0B85D1653B9D}"/>
              </a:ext>
            </a:extLst>
          </p:cNvPr>
          <p:cNvSpPr/>
          <p:nvPr/>
        </p:nvSpPr>
        <p:spPr>
          <a:xfrm>
            <a:off x="4261774" y="4038859"/>
            <a:ext cx="2110452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0E3ED3-41A1-ABED-ABC2-20D0388A90D5}"/>
              </a:ext>
            </a:extLst>
          </p:cNvPr>
          <p:cNvSpPr txBox="1"/>
          <p:nvPr/>
        </p:nvSpPr>
        <p:spPr>
          <a:xfrm>
            <a:off x="4464449" y="4037782"/>
            <a:ext cx="1921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Viagens por Destino e Ano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1536176-BD5A-BB92-31B3-A7E0110BCAA0}"/>
              </a:ext>
            </a:extLst>
          </p:cNvPr>
          <p:cNvSpPr/>
          <p:nvPr/>
        </p:nvSpPr>
        <p:spPr>
          <a:xfrm>
            <a:off x="9110389" y="1494740"/>
            <a:ext cx="233389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4E243E9-1D87-6C4A-8578-36033C032F0A}"/>
              </a:ext>
            </a:extLst>
          </p:cNvPr>
          <p:cNvSpPr txBox="1"/>
          <p:nvPr/>
        </p:nvSpPr>
        <p:spPr>
          <a:xfrm>
            <a:off x="9313065" y="1493663"/>
            <a:ext cx="218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Representatividade por Canal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656F041-26C9-5A59-C321-1F8CE73FC008}"/>
              </a:ext>
            </a:extLst>
          </p:cNvPr>
          <p:cNvSpPr/>
          <p:nvPr/>
        </p:nvSpPr>
        <p:spPr>
          <a:xfrm>
            <a:off x="9110389" y="4038859"/>
            <a:ext cx="2010049" cy="276999"/>
          </a:xfrm>
          <a:prstGeom prst="roundRect">
            <a:avLst>
              <a:gd name="adj" fmla="val 20634"/>
            </a:avLst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0F35722-248A-DE96-DC6F-85980BEBF88D}"/>
              </a:ext>
            </a:extLst>
          </p:cNvPr>
          <p:cNvSpPr txBox="1"/>
          <p:nvPr/>
        </p:nvSpPr>
        <p:spPr>
          <a:xfrm>
            <a:off x="9313066" y="4037782"/>
            <a:ext cx="2010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Receita por País-Destino</a:t>
            </a:r>
          </a:p>
        </p:txBody>
      </p:sp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4775ACB3-A8CC-8760-826A-23A1AABC6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79" y="4110039"/>
            <a:ext cx="102369" cy="131865"/>
          </a:xfrm>
          <a:prstGeom prst="rect">
            <a:avLst/>
          </a:prstGeom>
        </p:spPr>
      </p:pic>
      <p:pic>
        <p:nvPicPr>
          <p:cNvPr id="34" name="Imagem 3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19324522-8BB5-35EB-B092-107B1283E2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04" y="1567078"/>
            <a:ext cx="143945" cy="143945"/>
          </a:xfrm>
          <a:prstGeom prst="rect">
            <a:avLst/>
          </a:prstGeom>
        </p:spPr>
      </p:pic>
      <p:pic>
        <p:nvPicPr>
          <p:cNvPr id="38" name="Imagem 3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B99ED9F-31D5-B9D0-C0ED-6EF851C89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117" y="1591941"/>
            <a:ext cx="172958" cy="119082"/>
          </a:xfrm>
          <a:prstGeom prst="rect">
            <a:avLst/>
          </a:prstGeom>
        </p:spPr>
      </p:pic>
      <p:pic>
        <p:nvPicPr>
          <p:cNvPr id="40" name="Imagem 39" descr="Desenho de um cachorro&#10;&#10;Descrição gerada automaticamente com confiança baixa">
            <a:extLst>
              <a:ext uri="{FF2B5EF4-FFF2-40B4-BE49-F238E27FC236}">
                <a16:creationId xmlns:a16="http://schemas.microsoft.com/office/drawing/2014/main" id="{22B9F5DD-C786-74D6-5E80-9B39886637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147">
            <a:off x="9179245" y="4104274"/>
            <a:ext cx="143394" cy="143394"/>
          </a:xfrm>
          <a:prstGeom prst="rect">
            <a:avLst/>
          </a:prstGeom>
        </p:spPr>
      </p:pic>
      <p:pic>
        <p:nvPicPr>
          <p:cNvPr id="1027" name="Imagem 1026" descr="Ícone&#10;&#10;Descrição gerada automaticamente">
            <a:extLst>
              <a:ext uri="{FF2B5EF4-FFF2-40B4-BE49-F238E27FC236}">
                <a16:creationId xmlns:a16="http://schemas.microsoft.com/office/drawing/2014/main" id="{FBCD2109-DF75-014F-2669-6010A54878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69" y="4338109"/>
            <a:ext cx="189619" cy="231961"/>
          </a:xfrm>
          <a:prstGeom prst="rect">
            <a:avLst/>
          </a:prstGeom>
        </p:spPr>
      </p:pic>
      <p:pic>
        <p:nvPicPr>
          <p:cNvPr id="1031" name="Imagem 1030" descr="Logotipo, Ícone&#10;&#10;Descrição gerada automaticamente">
            <a:extLst>
              <a:ext uri="{FF2B5EF4-FFF2-40B4-BE49-F238E27FC236}">
                <a16:creationId xmlns:a16="http://schemas.microsoft.com/office/drawing/2014/main" id="{342E0B5D-0B56-38AA-43D1-1077504A28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45" y="3192747"/>
            <a:ext cx="211097" cy="221529"/>
          </a:xfrm>
          <a:prstGeom prst="rect">
            <a:avLst/>
          </a:prstGeom>
        </p:spPr>
      </p:pic>
      <p:pic>
        <p:nvPicPr>
          <p:cNvPr id="1033" name="Imagem 1032" descr="Ícone&#10;&#10;Descrição gerada automaticamente">
            <a:extLst>
              <a:ext uri="{FF2B5EF4-FFF2-40B4-BE49-F238E27FC236}">
                <a16:creationId xmlns:a16="http://schemas.microsoft.com/office/drawing/2014/main" id="{4B314257-F183-FB4D-ED40-202CD7F48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1" y="3745333"/>
            <a:ext cx="169369" cy="190233"/>
          </a:xfrm>
          <a:prstGeom prst="rect">
            <a:avLst/>
          </a:prstGeom>
        </p:spPr>
      </p:pic>
      <p:pic>
        <p:nvPicPr>
          <p:cNvPr id="1035" name="Imagem 1034" descr="Ícone&#10;&#10;Descrição gerada automaticamente">
            <a:extLst>
              <a:ext uri="{FF2B5EF4-FFF2-40B4-BE49-F238E27FC236}">
                <a16:creationId xmlns:a16="http://schemas.microsoft.com/office/drawing/2014/main" id="{AE203665-5280-BD3B-5019-58E7916F6C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45" y="1971112"/>
            <a:ext cx="211097" cy="203733"/>
          </a:xfrm>
          <a:prstGeom prst="rect">
            <a:avLst/>
          </a:prstGeom>
        </p:spPr>
      </p:pic>
      <p:sp>
        <p:nvSpPr>
          <p:cNvPr id="1036" name="Retângulo: Cantos Arredondados 1035">
            <a:extLst>
              <a:ext uri="{FF2B5EF4-FFF2-40B4-BE49-F238E27FC236}">
                <a16:creationId xmlns:a16="http://schemas.microsoft.com/office/drawing/2014/main" id="{0BBA371A-F503-63C4-46AA-F86BF636868A}"/>
              </a:ext>
            </a:extLst>
          </p:cNvPr>
          <p:cNvSpPr/>
          <p:nvPr/>
        </p:nvSpPr>
        <p:spPr>
          <a:xfrm>
            <a:off x="75435" y="2468592"/>
            <a:ext cx="431773" cy="433695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9" name="Imagem 1028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EAAB835-C146-997C-A6C2-76718E8396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3" y="2586095"/>
            <a:ext cx="211710" cy="21109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7AB66F2-6532-30B9-928C-81B39AC0E74E}"/>
              </a:ext>
            </a:extLst>
          </p:cNvPr>
          <p:cNvSpPr txBox="1"/>
          <p:nvPr/>
        </p:nvSpPr>
        <p:spPr>
          <a:xfrm>
            <a:off x="8284699" y="235922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</a:rPr>
              <a:t>Receita Total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24799F-BBCA-CA49-BB72-AF15BC22C144}"/>
              </a:ext>
            </a:extLst>
          </p:cNvPr>
          <p:cNvSpPr txBox="1"/>
          <p:nvPr/>
        </p:nvSpPr>
        <p:spPr>
          <a:xfrm>
            <a:off x="10373286" y="235922"/>
            <a:ext cx="1493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</a:rPr>
              <a:t>Passageiros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3564F0-C8FE-EF73-D741-707BAE733965}"/>
              </a:ext>
            </a:extLst>
          </p:cNvPr>
          <p:cNvSpPr/>
          <p:nvPr/>
        </p:nvSpPr>
        <p:spPr>
          <a:xfrm rot="5400000">
            <a:off x="8040823" y="443172"/>
            <a:ext cx="533398" cy="549788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7AEE69-D127-9B6B-CF81-6741210B5280}"/>
              </a:ext>
            </a:extLst>
          </p:cNvPr>
          <p:cNvSpPr/>
          <p:nvPr/>
        </p:nvSpPr>
        <p:spPr>
          <a:xfrm rot="5400000">
            <a:off x="10166235" y="442728"/>
            <a:ext cx="551632" cy="549788"/>
          </a:xfrm>
          <a:prstGeom prst="roundRect">
            <a:avLst/>
          </a:prstGeom>
          <a:solidFill>
            <a:srgbClr val="1D9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ABEA3C2-4C93-17DD-61EE-E491559AEA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48" y="1566487"/>
            <a:ext cx="137532" cy="135416"/>
          </a:xfrm>
          <a:prstGeom prst="rect">
            <a:avLst/>
          </a:prstGeom>
        </p:spPr>
      </p:pic>
      <p:pic>
        <p:nvPicPr>
          <p:cNvPr id="35" name="Imagem 3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5204038-95AD-574C-3FC4-724376A5C9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085" y="571310"/>
            <a:ext cx="293359" cy="293359"/>
          </a:xfrm>
          <a:prstGeom prst="rect">
            <a:avLst/>
          </a:prstGeom>
        </p:spPr>
      </p:pic>
      <p:pic>
        <p:nvPicPr>
          <p:cNvPr id="37" name="Imagem 3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8E83180-A73A-C15A-C17E-8E794A5E8F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914" y="525325"/>
            <a:ext cx="346815" cy="346815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55885B-5194-819C-0726-C3CC5DB4ACA5}"/>
              </a:ext>
            </a:extLst>
          </p:cNvPr>
          <p:cNvSpPr/>
          <p:nvPr/>
        </p:nvSpPr>
        <p:spPr>
          <a:xfrm>
            <a:off x="2942909" y="177053"/>
            <a:ext cx="4791788" cy="1042147"/>
          </a:xfrm>
          <a:prstGeom prst="roundRect">
            <a:avLst>
              <a:gd name="adj" fmla="val 1008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684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20de4e-4892-4869-a652-a7c915abf32f" xsi:nil="true"/>
    <lcf76f155ced4ddcb4097134ff3c332f xmlns="27abfcf4-a53b-45ec-9541-9b00a41a0f0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36BFA3F7CA2244925E07107AC027F4" ma:contentTypeVersion="15" ma:contentTypeDescription="Crie um novo documento." ma:contentTypeScope="" ma:versionID="95d703eb0bffa62077f0a94cb5edd68d">
  <xsd:schema xmlns:xsd="http://www.w3.org/2001/XMLSchema" xmlns:xs="http://www.w3.org/2001/XMLSchema" xmlns:p="http://schemas.microsoft.com/office/2006/metadata/properties" xmlns:ns2="27abfcf4-a53b-45ec-9541-9b00a41a0f09" xmlns:ns3="df20de4e-4892-4869-a652-a7c915abf32f" targetNamespace="http://schemas.microsoft.com/office/2006/metadata/properties" ma:root="true" ma:fieldsID="3015da4f12a5a758fc3c8a6182596bca" ns2:_="" ns3:_="">
    <xsd:import namespace="27abfcf4-a53b-45ec-9541-9b00a41a0f09"/>
    <xsd:import namespace="df20de4e-4892-4869-a652-a7c915abf3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bfcf4-a53b-45ec-9541-9b00a41a0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bdd6607b-17a9-4d68-980a-d0ce8eb27d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0de4e-4892-4869-a652-a7c915abf32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2878446-74c9-4094-890e-e361259db24f}" ma:internalName="TaxCatchAll" ma:showField="CatchAllData" ma:web="df20de4e-4892-4869-a652-a7c915abf3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72317D-337B-4B91-9BFB-71DA009EED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4962CA-2600-4565-933B-D014971D78A7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27abfcf4-a53b-45ec-9541-9b00a41a0f09"/>
    <ds:schemaRef ds:uri="http://schemas.microsoft.com/office/infopath/2007/PartnerControls"/>
    <ds:schemaRef ds:uri="http://schemas.openxmlformats.org/package/2006/metadata/core-properties"/>
    <ds:schemaRef ds:uri="df20de4e-4892-4869-a652-a7c915abf32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80A901-0AFA-482C-85F5-C1BF68903B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abfcf4-a53b-45ec-9541-9b00a41a0f09"/>
    <ds:schemaRef ds:uri="df20de4e-4892-4869-a652-a7c915abf3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91</Words>
  <Application>Microsoft Office PowerPoint</Application>
  <PresentationFormat>Widescreen</PresentationFormat>
  <Paragraphs>41</Paragraphs>
  <Slides>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Albert Sans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Letícia Smirelli</dc:creator>
  <cp:lastModifiedBy>CAMILA PINHEIRO GODOI</cp:lastModifiedBy>
  <cp:revision>2</cp:revision>
  <dcterms:created xsi:type="dcterms:W3CDTF">2024-04-25T17:17:57Z</dcterms:created>
  <dcterms:modified xsi:type="dcterms:W3CDTF">2026-03-28T12:49:41Z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0x0101004C36BFA3F7CA2244925E07107AC027F4</vt:lpwstr>
  </property>
  <property fmtid="{D5CDD505-2E9C-101B-9397-08002B2CF9AE}" pid="3" name="MediaServiceImageTags">
    <vt:lpwstr/>
  </property>
</Properties>
</file>